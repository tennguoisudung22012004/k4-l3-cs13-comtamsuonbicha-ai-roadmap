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f9700b98c14f59" /><Relationship Type="http://schemas.openxmlformats.org/officeDocument/2006/relationships/extended-properties" Target="/docProps/app.xml" Id="R88d39d6250b74832" /><Relationship Type="http://schemas.openxmlformats.org/officeDocument/2006/relationships/officeDocument" Target="/ppt/presentation.xml" Id="R8634778048aa421e" /></Relationships>
</file>

<file path=ppt/presentation.xml><?xml version="1.0" encoding="utf-8"?>
<p:presentation xmlns:p="http://schemas.openxmlformats.org/presentationml/2006/main">
  <p:sldMasterIdLst>
    <p:sldMasterId xmlns:r="http://schemas.openxmlformats.org/officeDocument/2006/relationships" id="2147483648" r:id="Rd1ca52308f764b76"/>
  </p:sldMasterIdLst>
  <p:notesMasterIdLst>
    <p:notesMasterId xmlns:r="http://schemas.openxmlformats.org/officeDocument/2006/relationships" r:id="R72577ea09ae04eec"/>
  </p:notesMasterIdLst>
  <p:sldIdLst>
    <p:sldId xmlns:r="http://schemas.openxmlformats.org/officeDocument/2006/relationships" id="256" r:id="R454e198adb8848e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f46b04b6e3497f" /><Relationship Type="http://schemas.openxmlformats.org/officeDocument/2006/relationships/slideMaster" Target="/ppt/slideMasters/slideMaster1.xml" Id="Rd1ca52308f764b76" /><Relationship Type="http://schemas.openxmlformats.org/officeDocument/2006/relationships/notesMaster" Target="/ppt/notesMasters/notesMaster1.xml" Id="R72577ea09ae04eec" /><Relationship Type="http://schemas.openxmlformats.org/officeDocument/2006/relationships/presProps" Target="/ppt/presProps.xml" Id="R273f0d1ccabb4d76" /><Relationship Type="http://schemas.openxmlformats.org/officeDocument/2006/relationships/tableStyles" Target="/ppt/tableStyles.xml" Id="R316525ad01d44dbc" /><Relationship Type="http://schemas.openxmlformats.org/officeDocument/2006/relationships/slide" Target="/ppt/slides/slide1.xml" Id="R454e198adb8848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7d330da8a943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e0143e4ebc4973" /><Relationship Type="http://schemas.openxmlformats.org/officeDocument/2006/relationships/notesMaster" Target="/ppt/notesMasters/notesMaster1.xml" Id="R552eb7d18a724f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CS13_HoSoTinhHuong.pdf tr.6–7 trong repo https://github.com/tennguoisudung22012004/K4-L3-CS13-Comtamsuonbicha-AI-Roadmap . T1_D28.pdf: slide 74, 78–85. Bản mới có 96,6% đạt, 1 lỗi nghiêm trọng insulin, kappa 0,90 nên chưa phát hành. Kinh tế theo đề: 2.968 +1.200+7.500=11.668đ ở 100% DS duyệt, biên 6,656%. 10% duyệt: 4.918đ, biên 60,656%. 10% là giả thuyết cần kiểm chứng. Nếu tỷ lệ cờ cao phải duyệt đủ và đổi giá. Bác sĩ bệnh viện luôn ký 100%, không tính chi phí của công ty. 0/600 chỉ cho cận trên xấp xỉ 0,5% theo quy tắc ba, không là bằng chứng tuyệt đối. Ngân sách trần 100 triệu là đề xuất. 42 triệu làm tròn biến phí tối đa 3.600×11.668, 50 triệu kỹ thuật và 8 triệu chuyên gia cần xác nhận báo giá. Ngày 90 dự án là mốc quyết định. Điều kiện dừng sửa nhiều tính ngày 90 kể từ khi mở pilot. Sửa nhiều: bác sĩ phải đổi nội dung lâm sàng hoặc viết lại trên 30% phần diễn biến, chốt nhãn trước thu mẫu. Đề không cho giờ rảnh chuyên gia. Đề xuất 24 giờ cho vòng 45 ca từ 20,3/40×45≈22,84 giờ, chưa bao gồm 600 ca giữ kín (30 giờ kiểm thuốc riêng, nằm trong biến phí duyệt).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659ee2fedb405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bfa1ab7fcf437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c7517c863b241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23e3b802f314c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704f7e5d5443a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edfcf9ecfa34e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77C021D-DC31-4AAD-A56A-117B95D7829E}"/>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17E886-D4A1-4727-9055-0D57806E881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F22DE29-CE75-4E99-A8BF-BD53C79631C2}"/>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CD3CBE-D7B1-44A1-997D-4AEBAB7828C2}"/>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156547B-E471-4BDA-A9FA-AAA768BD3292}"/>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58624F9-DE6C-4B75-8E00-A5C5FF22A09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2873D2-7715-4D0B-97F5-8950FEFE768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CC6EA5-A1A2-407C-AE28-98C88E2172E6}"/>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C233D0-20A4-4C7B-947D-5D164DB3CD1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1ACB45F-6E1E-452C-9490-2A03A74AEB56}"/>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0f1090d7224094" /><Relationship Type="http://schemas.openxmlformats.org/officeDocument/2006/relationships/slideLayout" Target="/ppt/slideLayouts/slideLayout1.xml" Id="R795732961c414fec" /><Relationship Type="http://schemas.openxmlformats.org/officeDocument/2006/relationships/slideLayout" Target="/ppt/slideLayouts/slideLayout2.xml" Id="Re4251005f0ca48db" /><Relationship Type="http://schemas.openxmlformats.org/officeDocument/2006/relationships/slideLayout" Target="/ppt/slideLayouts/slideLayout3.xml" Id="R9c44c1d157e4487d" /><Relationship Type="http://schemas.openxmlformats.org/officeDocument/2006/relationships/slideLayout" Target="/ppt/slideLayouts/slideLayout4.xml" Id="R81f638a95c29440f" /><Relationship Type="http://schemas.openxmlformats.org/officeDocument/2006/relationships/slideLayout" Target="/ppt/slideLayouts/slideLayout5.xml" Id="R1bd4a2c059084797" /><Relationship Type="http://schemas.openxmlformats.org/officeDocument/2006/relationships/slideLayout" Target="/ppt/slideLayouts/slideLayout6.xml" Id="Rb632a7d2e1ee46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5732961c414fec"/>
    <p:sldLayoutId xmlns:r="http://schemas.openxmlformats.org/officeDocument/2006/relationships" id="2147483650" r:id="Re4251005f0ca48db"/>
    <p:sldLayoutId xmlns:r="http://schemas.openxmlformats.org/officeDocument/2006/relationships" id="2147483651" r:id="R9c44c1d157e4487d"/>
    <p:sldLayoutId xmlns:r="http://schemas.openxmlformats.org/officeDocument/2006/relationships" id="2147483652" r:id="R81f638a95c29440f"/>
    <p:sldLayoutId xmlns:r="http://schemas.openxmlformats.org/officeDocument/2006/relationships" id="2147483653" r:id="R1bd4a2c059084797"/>
    <p:sldLayoutId xmlns:r="http://schemas.openxmlformats.org/officeDocument/2006/relationships" id="2147483654" r:id="Rb632a7d2e1ee46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85f5bfede164880" /><Relationship Type="http://schemas.openxmlformats.org/officeDocument/2006/relationships/notesSlide" Target="/ppt/notesSlides/notesSlide1.xml" Id="Rf18402ce27b046ff" /></Relationships>
</file>

<file path=ppt/slides/slide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021857A8-7AF0-4D6D-A599-B552B7EB56C7}"/>
              </a:ext>
            </a:extLst>
          </p:cNvPr>
          <p:cNvSpPr>
            <a:spLocks xmlns:a="http://schemas.openxmlformats.org/drawingml/2006/main" noGrp="1"/>
          </p:cNvSpPr>
          <p:nvPr/>
        </p:nvSpPr>
        <p:spPr>
          <a:xfrm xmlns:a="http://schemas.openxmlformats.org/drawingml/2006/main">
            <a:off x="609600" y="381000"/>
            <a:ext cx="14001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450" b="1">
                <a:solidFill>
                  <a:srgbClr val="172C3C"/>
                </a:solidFill>
                <a:latin typeface="Arial"/>
                <a:ea typeface="Arial"/>
                <a:cs typeface="Arial"/>
              </a:defRPr>
            </a:defPPr>
          </a:lstStyle>
          <a:p xmlns:a="http://schemas.openxmlformats.org/drawingml/2006/main">
            <a:pPr>
              <a:defRPr sz="3450" b="1">
                <a:solidFill>
                  <a:srgbClr val="172C3C"/>
                </a:solidFill>
                <a:latin typeface="Arial"/>
                <a:ea typeface="Arial"/>
                <a:cs typeface="Arial"/>
              </a:defRPr>
            </a:pPr>
            <a:r>
              <a:rPr sz="3450" b="1">
                <a:solidFill>
                  <a:srgbClr val="172C3C"/>
                </a:solidFill>
                <a:latin typeface="Arial"/>
                <a:ea typeface="Arial"/>
                <a:cs typeface="Arial"/>
              </a:rPr>
              <a:t>RaViện: pilot có kiểm soát trước mở rộng</a:t>
            </a:r>
          </a:p>
        </p:txBody>
      </p:sp>
      <p:sp>
        <p:nvSpPr>
          <p:cNvPr id="2" name="conclusion">
            <a:extLst xmlns:a="http://schemas.openxmlformats.org/drawingml/2006/main">
              <a:ext uri="{FF2B5EF4-FFF2-40B4-BE49-F238E27FC236}">
                <a16:creationId xmlns:a16="http://schemas.microsoft.com/office/drawing/2014/main" id="{CDEE1336-0400-47B3-8AFF-03376A3624F0}"/>
              </a:ext>
            </a:extLst>
          </p:cNvPr>
          <p:cNvSpPr>
            <a:spLocks xmlns:a="http://schemas.openxmlformats.org/drawingml/2006/main" noGrp="1"/>
          </p:cNvSpPr>
          <p:nvPr/>
        </p:nvSpPr>
        <p:spPr>
          <a:xfrm xmlns:a="http://schemas.openxmlformats.org/drawingml/2006/main">
            <a:off x="609600" y="1190625"/>
            <a:ext cx="14001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096A6A"/>
                </a:solidFill>
                <a:latin typeface="Arial"/>
                <a:ea typeface="Arial"/>
                <a:cs typeface="Arial"/>
              </a:defRPr>
            </a:defPPr>
          </a:lstStyle>
          <a:p xmlns:a="http://schemas.openxmlformats.org/drawingml/2006/main">
            <a:pPr>
              <a:defRPr sz="2400" b="1">
                <a:solidFill>
                  <a:srgbClr val="096A6A"/>
                </a:solidFill>
                <a:latin typeface="Arial"/>
                <a:ea typeface="Arial"/>
                <a:cs typeface="Arial"/>
              </a:defRPr>
            </a:pPr>
            <a:r>
              <a:rPr sz="2400" b="1">
                <a:solidFill>
                  <a:srgbClr val="096A6A"/>
                </a:solidFill>
                <a:latin typeface="Arial"/>
                <a:ea typeface="Arial"/>
                <a:cs typeface="Arial"/>
              </a:rPr>
              <a:t>Đề xuất pilot RaViện cho khoa nội sau khi sửa lỗi insulin, mục tiêu giảm 2/3 thời gian hoàn tất tóm tắt và quyết định mở rộng ngày 90 khi đạt cổng an toàn.</a:t>
            </a:r>
          </a:p>
        </p:txBody>
      </p:sp>
      <p:sp>
        <p:nvSpPr>
          <p:cNvPr id="3" name="roadmap-heading">
            <a:extLst xmlns:a="http://schemas.openxmlformats.org/drawingml/2006/main">
              <a:ext uri="{FF2B5EF4-FFF2-40B4-BE49-F238E27FC236}">
                <a16:creationId xmlns:a16="http://schemas.microsoft.com/office/drawing/2014/main" id="{EBE50DFC-57DE-4B7F-8452-21BDC2E1E72B}"/>
              </a:ext>
            </a:extLst>
          </p:cNvPr>
          <p:cNvSpPr>
            <a:spLocks xmlns:a="http://schemas.openxmlformats.org/drawingml/2006/main" noGrp="1"/>
          </p:cNvSpPr>
          <p:nvPr/>
        </p:nvSpPr>
        <p:spPr>
          <a:xfrm xmlns:a="http://schemas.openxmlformats.org/drawingml/2006/main">
            <a:off x="609600" y="257175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2C3C"/>
                </a:solidFill>
                <a:latin typeface="Arial"/>
                <a:ea typeface="Arial"/>
                <a:cs typeface="Arial"/>
              </a:defRPr>
            </a:defPPr>
          </a:lstStyle>
          <a:p xmlns:a="http://schemas.openxmlformats.org/drawingml/2006/main">
            <a:pPr>
              <a:defRPr sz="2175" b="1">
                <a:solidFill>
                  <a:srgbClr val="172C3C"/>
                </a:solidFill>
                <a:latin typeface="Arial"/>
                <a:ea typeface="Arial"/>
                <a:cs typeface="Arial"/>
              </a:defRPr>
            </a:pPr>
            <a:r>
              <a:rPr sz="2175" b="1">
                <a:solidFill>
                  <a:srgbClr val="172C3C"/>
                </a:solidFill>
                <a:latin typeface="Arial"/>
                <a:ea typeface="Arial"/>
                <a:cs typeface="Arial"/>
              </a:rPr>
              <a:t>Ba việc chính</a:t>
            </a:r>
          </a:p>
        </p:txBody>
      </p:sp>
      <p:sp>
        <p:nvSpPr>
          <p:cNvPr id="4" name="roadmap">
            <a:extLst xmlns:a="http://schemas.openxmlformats.org/drawingml/2006/main">
              <a:ext uri="{FF2B5EF4-FFF2-40B4-BE49-F238E27FC236}">
                <a16:creationId xmlns:a16="http://schemas.microsoft.com/office/drawing/2014/main" id="{042EAAB9-6F28-4272-A49B-52F048E7902D}"/>
              </a:ext>
            </a:extLst>
          </p:cNvPr>
          <p:cNvSpPr>
            <a:spLocks xmlns:a="http://schemas.openxmlformats.org/drawingml/2006/main" noGrp="1"/>
          </p:cNvSpPr>
          <p:nvPr/>
        </p:nvSpPr>
        <p:spPr>
          <a:xfrm xmlns:a="http://schemas.openxmlformats.org/drawingml/2006/main">
            <a:off x="609600" y="3067050"/>
            <a:ext cx="8096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0">
                <a:solidFill>
                  <a:srgbClr val="172C3C"/>
                </a:solidFill>
                <a:latin typeface="Arial"/>
                <a:ea typeface="Arial"/>
                <a:cs typeface="Arial"/>
              </a:defRPr>
            </a:defPPr>
          </a:lstStyle>
          <a:p xmlns:a="http://schemas.openxmlformats.org/drawingml/2006/main">
            <a:pPr>
              <a:defRPr sz="2175" b="0">
                <a:solidFill>
                  <a:srgbClr val="172C3C"/>
                </a:solidFill>
                <a:latin typeface="Arial"/>
                <a:ea typeface="Arial"/>
                <a:cs typeface="Arial"/>
              </a:defRPr>
            </a:pPr>
            <a:r>
              <a:rPr sz="2175" b="0">
                <a:solidFill>
                  <a:srgbClr val="172C3C"/>
                </a:solidFill>
                <a:latin typeface="Arial"/>
                <a:ea typeface="Arial"/>
                <a:cs typeface="Arial"/>
              </a:rPr>
              <a:t>Bây giờ: sửa insulin, thêm 5 ca, chạy lại 45 ca. Tiếp theo: giảm duyệt dược sĩ còn 10% sau cổng 600 ca. Sau này: xem xét chuyển khoa khi đủ dữ liệu, bác sĩ luôn ký 100%.</a:t>
            </a:r>
          </a:p>
        </p:txBody>
      </p:sp>
      <p:sp>
        <p:nvSpPr>
          <p:cNvPr id="5" name="resources-heading">
            <a:extLst xmlns:a="http://schemas.openxmlformats.org/drawingml/2006/main">
              <a:ext uri="{FF2B5EF4-FFF2-40B4-BE49-F238E27FC236}">
                <a16:creationId xmlns:a16="http://schemas.microsoft.com/office/drawing/2014/main" id="{730603DC-67B9-4209-A8D4-6EDE398A3EF9}"/>
              </a:ext>
            </a:extLst>
          </p:cNvPr>
          <p:cNvSpPr>
            <a:spLocks xmlns:a="http://schemas.openxmlformats.org/drawingml/2006/main" noGrp="1"/>
          </p:cNvSpPr>
          <p:nvPr/>
        </p:nvSpPr>
        <p:spPr>
          <a:xfrm xmlns:a="http://schemas.openxmlformats.org/drawingml/2006/main">
            <a:off x="9429750" y="2571750"/>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2C3C"/>
                </a:solidFill>
                <a:latin typeface="Arial"/>
                <a:ea typeface="Arial"/>
                <a:cs typeface="Arial"/>
              </a:defRPr>
            </a:defPPr>
          </a:lstStyle>
          <a:p xmlns:a="http://schemas.openxmlformats.org/drawingml/2006/main">
            <a:pPr>
              <a:defRPr sz="2175" b="1">
                <a:solidFill>
                  <a:srgbClr val="172C3C"/>
                </a:solidFill>
                <a:latin typeface="Arial"/>
                <a:ea typeface="Arial"/>
                <a:cs typeface="Arial"/>
              </a:defRPr>
            </a:pPr>
            <a:r>
              <a:rPr sz="2175" b="1">
                <a:solidFill>
                  <a:srgbClr val="172C3C"/>
                </a:solidFill>
                <a:latin typeface="Arial"/>
                <a:ea typeface="Arial"/>
                <a:cs typeface="Arial"/>
              </a:rPr>
              <a:t>Nguồn lực đề xuất</a:t>
            </a:r>
          </a:p>
        </p:txBody>
      </p:sp>
      <p:sp>
        <p:nvSpPr>
          <p:cNvPr id="6" name="resources">
            <a:extLst xmlns:a="http://schemas.openxmlformats.org/drawingml/2006/main">
              <a:ext uri="{FF2B5EF4-FFF2-40B4-BE49-F238E27FC236}">
                <a16:creationId xmlns:a16="http://schemas.microsoft.com/office/drawing/2014/main" id="{7D589C0D-A18B-4D45-923D-5AEE3D8D26F6}"/>
              </a:ext>
            </a:extLst>
          </p:cNvPr>
          <p:cNvSpPr>
            <a:spLocks xmlns:a="http://schemas.openxmlformats.org/drawingml/2006/main" noGrp="1"/>
          </p:cNvSpPr>
          <p:nvPr/>
        </p:nvSpPr>
        <p:spPr>
          <a:xfrm xmlns:a="http://schemas.openxmlformats.org/drawingml/2006/main">
            <a:off x="9429750" y="3067050"/>
            <a:ext cx="5238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2C3C"/>
                </a:solidFill>
                <a:latin typeface="Arial"/>
                <a:ea typeface="Arial"/>
                <a:cs typeface="Arial"/>
              </a:defRPr>
            </a:defPPr>
          </a:lstStyle>
          <a:p xmlns:a="http://schemas.openxmlformats.org/drawingml/2006/main">
            <a:pPr>
              <a:defRPr sz="2025" b="0">
                <a:solidFill>
                  <a:srgbClr val="172C3C"/>
                </a:solidFill>
                <a:latin typeface="Arial"/>
                <a:ea typeface="Arial"/>
                <a:cs typeface="Arial"/>
              </a:defRPr>
            </a:pPr>
            <a:r>
              <a:rPr sz="2025" b="0">
                <a:solidFill>
                  <a:srgbClr val="172C3C"/>
                </a:solidFill>
                <a:latin typeface="Arial"/>
                <a:ea typeface="Arial"/>
                <a:cs typeface="Arial"/>
              </a:rPr>
              <a:t>Đề xuất trần 100 triệu/90 ngày: 42 triệu biến phí, 50 triệu kỹ thuật, 8 triệu chuyên gia. Cần 1 kỹ sư, 0,5 PM, 24 giờ BS/DS cho vòng sửa và dữ liệu khử định danh.</a:t>
            </a:r>
          </a:p>
        </p:txBody>
      </p:sp>
      <p:sp>
        <p:nvSpPr>
          <p:cNvPr id="7" name="risk-heading">
            <a:extLst xmlns:a="http://schemas.openxmlformats.org/drawingml/2006/main">
              <a:ext uri="{FF2B5EF4-FFF2-40B4-BE49-F238E27FC236}">
                <a16:creationId xmlns:a16="http://schemas.microsoft.com/office/drawing/2014/main" id="{74A8F928-B9F4-498A-B829-0539DCDA7EB5}"/>
              </a:ext>
            </a:extLst>
          </p:cNvPr>
          <p:cNvSpPr>
            <a:spLocks xmlns:a="http://schemas.openxmlformats.org/drawingml/2006/main" noGrp="1"/>
          </p:cNvSpPr>
          <p:nvPr/>
        </p:nvSpPr>
        <p:spPr>
          <a:xfrm xmlns:a="http://schemas.openxmlformats.org/drawingml/2006/main">
            <a:off x="609600" y="5381625"/>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2C3C"/>
                </a:solidFill>
                <a:latin typeface="Arial"/>
                <a:ea typeface="Arial"/>
                <a:cs typeface="Arial"/>
              </a:defRPr>
            </a:defPPr>
          </a:lstStyle>
          <a:p xmlns:a="http://schemas.openxmlformats.org/drawingml/2006/main">
            <a:pPr>
              <a:defRPr sz="2175" b="1">
                <a:solidFill>
                  <a:srgbClr val="172C3C"/>
                </a:solidFill>
                <a:latin typeface="Arial"/>
                <a:ea typeface="Arial"/>
                <a:cs typeface="Arial"/>
              </a:defRPr>
            </a:pPr>
            <a:r>
              <a:rPr sz="2175" b="1">
                <a:solidFill>
                  <a:srgbClr val="172C3C"/>
                </a:solidFill>
                <a:latin typeface="Arial"/>
                <a:ea typeface="Arial"/>
                <a:cs typeface="Arial"/>
              </a:rPr>
              <a:t>Rủi ro và cổng an toàn</a:t>
            </a:r>
          </a:p>
        </p:txBody>
      </p:sp>
      <p:sp>
        <p:nvSpPr>
          <p:cNvPr id="8" name="risk">
            <a:extLst xmlns:a="http://schemas.openxmlformats.org/drawingml/2006/main">
              <a:ext uri="{FF2B5EF4-FFF2-40B4-BE49-F238E27FC236}">
                <a16:creationId xmlns:a16="http://schemas.microsoft.com/office/drawing/2014/main" id="{472493F9-F305-4273-B7F6-DCCAB08C97F4}"/>
              </a:ext>
            </a:extLst>
          </p:cNvPr>
          <p:cNvSpPr>
            <a:spLocks xmlns:a="http://schemas.openxmlformats.org/drawingml/2006/main" noGrp="1"/>
          </p:cNvSpPr>
          <p:nvPr/>
        </p:nvSpPr>
        <p:spPr>
          <a:xfrm xmlns:a="http://schemas.openxmlformats.org/drawingml/2006/main">
            <a:off x="609600" y="5905500"/>
            <a:ext cx="80962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00" b="0">
                <a:solidFill>
                  <a:srgbClr val="172C3C"/>
                </a:solidFill>
                <a:latin typeface="Arial"/>
                <a:ea typeface="Arial"/>
                <a:cs typeface="Arial"/>
              </a:defRPr>
            </a:defPPr>
          </a:lstStyle>
          <a:p xmlns:a="http://schemas.openxmlformats.org/drawingml/2006/main">
            <a:pPr>
              <a:defRPr sz="2100" b="0">
                <a:solidFill>
                  <a:srgbClr val="172C3C"/>
                </a:solidFill>
                <a:latin typeface="Arial"/>
                <a:ea typeface="Arial"/>
                <a:cs typeface="Arial"/>
              </a:defRPr>
            </a:pPr>
            <a:r>
              <a:rPr sz="2100" b="0">
                <a:solidFill>
                  <a:srgbClr val="172C3C"/>
                </a:solidFill>
                <a:latin typeface="Arial"/>
                <a:ea typeface="Arial"/>
                <a:cs typeface="Arial"/>
              </a:rPr>
              <a:t>Lỗi thuốc là rủi ro lớn nhất. Chỉ pilot sau 0 lỗi nghiêm trọng/45 ca. Bác sĩ ký 100%. Một lỗi thuốc lọt người bệnh: dừng ngay. Mức 2 cần 0 lỗi/600 ca giữ kín.</a:t>
            </a:r>
          </a:p>
        </p:txBody>
      </p:sp>
      <p:sp>
        <p:nvSpPr>
          <p:cNvPr id="9" name="review-heading">
            <a:extLst xmlns:a="http://schemas.openxmlformats.org/drawingml/2006/main">
              <a:ext uri="{FF2B5EF4-FFF2-40B4-BE49-F238E27FC236}">
                <a16:creationId xmlns:a16="http://schemas.microsoft.com/office/drawing/2014/main" id="{2EC80C9B-56C2-49C1-9B1C-DF3EE366A7EC}"/>
              </a:ext>
            </a:extLst>
          </p:cNvPr>
          <p:cNvSpPr>
            <a:spLocks xmlns:a="http://schemas.openxmlformats.org/drawingml/2006/main" noGrp="1"/>
          </p:cNvSpPr>
          <p:nvPr/>
        </p:nvSpPr>
        <p:spPr>
          <a:xfrm xmlns:a="http://schemas.openxmlformats.org/drawingml/2006/main">
            <a:off x="9429750" y="538162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175" b="1">
                <a:solidFill>
                  <a:srgbClr val="172C3C"/>
                </a:solidFill>
                <a:latin typeface="Arial"/>
                <a:ea typeface="Arial"/>
                <a:cs typeface="Arial"/>
              </a:defRPr>
            </a:defPPr>
          </a:lstStyle>
          <a:p xmlns:a="http://schemas.openxmlformats.org/drawingml/2006/main">
            <a:pPr>
              <a:defRPr sz="2175" b="1">
                <a:solidFill>
                  <a:srgbClr val="172C3C"/>
                </a:solidFill>
                <a:latin typeface="Arial"/>
                <a:ea typeface="Arial"/>
                <a:cs typeface="Arial"/>
              </a:defRPr>
            </a:pPr>
            <a:r>
              <a:rPr sz="2175" b="1">
                <a:solidFill>
                  <a:srgbClr val="172C3C"/>
                </a:solidFill>
                <a:latin typeface="Arial"/>
                <a:ea typeface="Arial"/>
                <a:cs typeface="Arial"/>
              </a:rPr>
              <a:t>Mốc quyết định</a:t>
            </a:r>
          </a:p>
        </p:txBody>
      </p:sp>
      <p:sp>
        <p:nvSpPr>
          <p:cNvPr id="10" name="review">
            <a:extLst xmlns:a="http://schemas.openxmlformats.org/drawingml/2006/main">
              <a:ext uri="{FF2B5EF4-FFF2-40B4-BE49-F238E27FC236}">
                <a16:creationId xmlns:a16="http://schemas.microsoft.com/office/drawing/2014/main" id="{20DDEF9A-88C6-4C8F-94F9-8B17BE12F3D4}"/>
              </a:ext>
            </a:extLst>
          </p:cNvPr>
          <p:cNvSpPr>
            <a:spLocks xmlns:a="http://schemas.openxmlformats.org/drawingml/2006/main" noGrp="1"/>
          </p:cNvSpPr>
          <p:nvPr/>
        </p:nvSpPr>
        <p:spPr>
          <a:xfrm xmlns:a="http://schemas.openxmlformats.org/drawingml/2006/main">
            <a:off x="9429750" y="5905500"/>
            <a:ext cx="5238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025" b="0">
                <a:solidFill>
                  <a:srgbClr val="172C3C"/>
                </a:solidFill>
                <a:latin typeface="Arial"/>
                <a:ea typeface="Arial"/>
                <a:cs typeface="Arial"/>
              </a:defRPr>
            </a:defPPr>
          </a:lstStyle>
          <a:p xmlns:a="http://schemas.openxmlformats.org/drawingml/2006/main">
            <a:pPr>
              <a:defRPr sz="2025" b="0">
                <a:solidFill>
                  <a:srgbClr val="172C3C"/>
                </a:solidFill>
                <a:latin typeface="Arial"/>
                <a:ea typeface="Arial"/>
                <a:cs typeface="Arial"/>
              </a:defRPr>
            </a:pPr>
            <a:r>
              <a:rPr sz="2025" b="0">
                <a:solidFill>
                  <a:srgbClr val="172C3C"/>
                </a:solidFill>
                <a:latin typeface="Arial"/>
                <a:ea typeface="Arial"/>
                <a:cs typeface="Arial"/>
              </a:rPr>
              <a:t>Rà soát ngày 30/60/90 của dự án, khi model hoặc giá đổi. Ngày 90 pilot: sửa nhiều &gt;30% thì dừng mở khoa. Tháng 6 chưa có hợp đồng trả tiền: dừng mở rộng, tránh hết tiền tháng 9.</a:t>
            </a:r>
          </a:p>
        </p:txBody>
      </p:sp>
      <p:sp>
        <p:nvSpPr>
          <p:cNvPr id="11" name="source">
            <a:extLst xmlns:a="http://schemas.openxmlformats.org/drawingml/2006/main">
              <a:ext uri="{FF2B5EF4-FFF2-40B4-BE49-F238E27FC236}">
                <a16:creationId xmlns:a16="http://schemas.microsoft.com/office/drawing/2014/main" id="{27047FC9-7CDE-4A27-98F5-A246828D2EFD}"/>
              </a:ext>
            </a:extLst>
          </p:cNvPr>
          <p:cNvSpPr>
            <a:spLocks xmlns:a="http://schemas.openxmlformats.org/drawingml/2006/main" noGrp="1"/>
          </p:cNvSpPr>
          <p:nvPr/>
        </p:nvSpPr>
        <p:spPr>
          <a:xfrm xmlns:a="http://schemas.openxmlformats.org/drawingml/2006/main">
            <a:off x="609600" y="8067675"/>
            <a:ext cx="1409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425" b="0">
                <a:solidFill>
                  <a:srgbClr val="52616C"/>
                </a:solidFill>
                <a:latin typeface="Arial"/>
                <a:ea typeface="Arial"/>
                <a:cs typeface="Arial"/>
              </a:defRPr>
            </a:defPPr>
          </a:lstStyle>
          <a:p xmlns:a="http://schemas.openxmlformats.org/drawingml/2006/main">
            <a:pPr>
              <a:defRPr sz="1425" b="0">
                <a:solidFill>
                  <a:srgbClr val="52616C"/>
                </a:solidFill>
                <a:latin typeface="Arial"/>
                <a:ea typeface="Arial"/>
                <a:cs typeface="Arial"/>
              </a:defRPr>
            </a:pPr>
            <a:r>
              <a:rPr sz="1425" b="0">
                <a:solidFill>
                  <a:srgbClr val="52616C"/>
                </a:solidFill>
                <a:latin typeface="Arial"/>
                <a:ea typeface="Arial"/>
                <a:cs typeface="Arial"/>
              </a:rPr>
              <a:t>Đề 3 giả định của khóa học. Ngưỡng mới và ngân sách là đề xuất. Nguồn: Hồ sơ tình huống CS13, tr. 6–7.</a:t>
            </a:r>
          </a:p>
        </p:txBody>
      </p:sp>
    </p:spTree>
    <p:extLst>
      <p:ext uri="{BB962C8B-B14F-4D97-AF65-F5344CB8AC3E}">
        <p14:creationId xmlns:p14="http://schemas.microsoft.com/office/powerpoint/2010/main" val="7709591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2026-10-16T10:05:56.0570000Z</dcterms:created>
  <dcterms:modified xsi:type="dcterms:W3CDTF">2026-10-16T10:05:56.0570000Z</dcterms:modified>
</coreProperties>
</file>